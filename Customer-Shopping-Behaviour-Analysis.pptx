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543800" y="0"/>
            <a:ext cx="4647895" cy="6858000"/>
          </a:xfrm>
          <a:prstGeom prst="rect">
            <a:avLst/>
          </a:prstGeom>
          <a:solidFill>
            <a:srgbClr val="E8E3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61264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100" b="1">
                <a:solidFill>
                  <a:srgbClr val="B89753"/>
                </a:solidFill>
                <a:latin typeface="Aptos"/>
              </a:rPr>
              <a:t>DATA ANALYTICS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6126480" cy="1325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3400" b="1">
                <a:solidFill>
                  <a:srgbClr val="282825"/>
                </a:solidFill>
                <a:latin typeface="Aptos"/>
              </a:rPr>
              <a:t>Customer Shopping
Behaviour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310128"/>
            <a:ext cx="5669280" cy="777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0">
                <a:solidFill>
                  <a:srgbClr val="5B5B56"/>
                </a:solidFill>
                <a:latin typeface="Aptos"/>
              </a:rPr>
              <a:t>Study of 3,900 transactions to identify customer segments, product performance, promotion behaviour and loyalty patterns.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4736592"/>
            <a:ext cx="53949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00" b="1">
                <a:solidFill>
                  <a:srgbClr val="383833"/>
                </a:solidFill>
                <a:latin typeface="Aptos"/>
              </a:rPr>
              <a:t>PYTHON  •  SQL  •  POWER BI</a:t>
            </a:r>
          </a:p>
        </p:txBody>
      </p:sp>
      <p:pic>
        <p:nvPicPr>
          <p:cNvPr id="7" name="Picture 6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600200"/>
            <a:ext cx="2971800" cy="4160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75320" y="5989320"/>
            <a:ext cx="34747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ctr"/>
            <a:r>
              <a:rPr sz="900" b="1">
                <a:solidFill>
                  <a:srgbClr val="5B5B56"/>
                </a:solidFill>
                <a:latin typeface="Aptos"/>
              </a:rPr>
              <a:t>From raw transactions → business actions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00" b="1">
                <a:solidFill>
                  <a:srgbClr val="B89753"/>
                </a:solidFill>
                <a:latin typeface="Aptos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700" b="1">
                <a:solidFill>
                  <a:srgbClr val="282825"/>
                </a:solidFill>
                <a:latin typeface="Aptos"/>
              </a:rP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914400" cy="41148"/>
          </a:xfrm>
          <a:prstGeom prst="rect">
            <a:avLst/>
          </a:prstGeom>
          <a:solidFill>
            <a:srgbClr val="B8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600200"/>
            <a:ext cx="2148840" cy="1234440"/>
          </a:xfrm>
          <a:prstGeom prst="roundRect">
            <a:avLst/>
          </a:prstGeom>
          <a:solidFill>
            <a:srgbClr val="E8E3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737360"/>
            <a:ext cx="1819656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92500" lnSpcReduction="20000"/>
          </a:bodyPr>
          <a:lstStyle/>
          <a:p>
            <a:pPr algn="l"/>
            <a:r>
              <a:rPr sz="2500" b="1">
                <a:solidFill>
                  <a:srgbClr val="282825"/>
                </a:solidFill>
                <a:latin typeface="Aptos"/>
              </a:rPr>
              <a:t>3,900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176272"/>
            <a:ext cx="181965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00" b="1">
                <a:solidFill>
                  <a:srgbClr val="5B5B56"/>
                </a:solidFill>
                <a:latin typeface="Aptos"/>
              </a:rPr>
              <a:t>Transactions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1600200"/>
            <a:ext cx="2148840" cy="1234440"/>
          </a:xfrm>
          <a:prstGeom prst="roundRect">
            <a:avLst/>
          </a:prstGeom>
          <a:solidFill>
            <a:srgbClr val="E8E3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44952" y="1737360"/>
            <a:ext cx="1819656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92500" lnSpcReduction="20000"/>
          </a:bodyPr>
          <a:lstStyle/>
          <a:p>
            <a:pPr algn="l"/>
            <a:r>
              <a:rPr sz="2500" b="1">
                <a:solidFill>
                  <a:srgbClr val="282825"/>
                </a:solidFill>
                <a:latin typeface="Aptos"/>
              </a:rP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4952" y="2176272"/>
            <a:ext cx="181965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00" b="1">
                <a:solidFill>
                  <a:srgbClr val="5B5B56"/>
                </a:solidFill>
                <a:latin typeface="Aptos"/>
              </a:rPr>
              <a:t>Columns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66360" y="1600200"/>
            <a:ext cx="2148840" cy="1234440"/>
          </a:xfrm>
          <a:prstGeom prst="roundRect">
            <a:avLst/>
          </a:prstGeom>
          <a:solidFill>
            <a:srgbClr val="E8E3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30952" y="1737360"/>
            <a:ext cx="1819656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92500" lnSpcReduction="20000"/>
          </a:bodyPr>
          <a:lstStyle/>
          <a:p>
            <a:pPr algn="l"/>
            <a:r>
              <a:rPr sz="2500" b="1">
                <a:solidFill>
                  <a:srgbClr val="282825"/>
                </a:solidFill>
                <a:latin typeface="Aptos"/>
              </a:rPr>
              <a:t>37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0952" y="2176272"/>
            <a:ext cx="181965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00" b="1">
                <a:solidFill>
                  <a:srgbClr val="5B5B56"/>
                </a:solidFill>
                <a:latin typeface="Aptos"/>
              </a:rPr>
              <a:t>Missing ratings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0952" y="2468880"/>
            <a:ext cx="1819656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850" b="0">
                <a:solidFill>
                  <a:srgbClr val="5B5B56"/>
                </a:solidFill>
                <a:latin typeface="Aptos"/>
              </a:rPr>
              <a:t>Imputed with mean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1600200"/>
            <a:ext cx="2148840" cy="1234440"/>
          </a:xfrm>
          <a:prstGeom prst="roundRect">
            <a:avLst/>
          </a:prstGeom>
          <a:solidFill>
            <a:srgbClr val="E8E3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16952" y="1737360"/>
            <a:ext cx="1819656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92500" lnSpcReduction="20000"/>
          </a:bodyPr>
          <a:lstStyle/>
          <a:p>
            <a:pPr algn="l"/>
            <a:r>
              <a:rPr sz="2500" b="1">
                <a:solidFill>
                  <a:srgbClr val="282825"/>
                </a:solidFill>
                <a:latin typeface="Aptos"/>
              </a:rPr>
              <a:t>98.87K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6952" y="2176272"/>
            <a:ext cx="181965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00" b="1">
                <a:solidFill>
                  <a:srgbClr val="5B5B56"/>
                </a:solidFill>
                <a:latin typeface="Aptos"/>
              </a:rPr>
              <a:t>Repeat purchases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6952" y="2468880"/>
            <a:ext cx="1819656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850" b="0">
                <a:solidFill>
                  <a:srgbClr val="5B5B56"/>
                </a:solidFill>
                <a:latin typeface="Aptos"/>
              </a:rPr>
              <a:t>Power BI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3154680"/>
            <a:ext cx="41148" cy="1234440"/>
          </a:xfrm>
          <a:prstGeom prst="rect">
            <a:avLst/>
          </a:prstGeom>
          <a:solidFill>
            <a:srgbClr val="B8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0664" y="3154680"/>
            <a:ext cx="3328415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lnSpcReduction="10000"/>
          </a:bodyPr>
          <a:lstStyle/>
          <a:p>
            <a:pPr algn="l"/>
            <a:r>
              <a:rPr sz="1200" b="1">
                <a:solidFill>
                  <a:srgbClr val="282825"/>
                </a:solidFill>
                <a:latin typeface="Aptos"/>
              </a:rPr>
              <a:t>01  Female customer 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" y="3465576"/>
            <a:ext cx="3328415" cy="9235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69" b="0">
                <a:solidFill>
                  <a:srgbClr val="5B5B56"/>
                </a:solidFill>
                <a:latin typeface="Aptos"/>
              </a:rPr>
              <a:t>Female subscription is 0%; the subscription base is entirely male.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15968" y="3154680"/>
            <a:ext cx="41148" cy="1234440"/>
          </a:xfrm>
          <a:prstGeom prst="rect">
            <a:avLst/>
          </a:prstGeom>
          <a:solidFill>
            <a:srgbClr val="B8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62272" y="3154680"/>
            <a:ext cx="3328415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lnSpcReduction="10000"/>
          </a:bodyPr>
          <a:lstStyle/>
          <a:p>
            <a:pPr algn="l"/>
            <a:r>
              <a:rPr sz="1200" b="1">
                <a:solidFill>
                  <a:srgbClr val="282825"/>
                </a:solidFill>
                <a:latin typeface="Aptos"/>
              </a:rPr>
              <a:t>02  Revenue concentration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62272" y="3465576"/>
            <a:ext cx="3328415" cy="9235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69" b="0">
                <a:solidFill>
                  <a:srgbClr val="5B5B56"/>
                </a:solidFill>
                <a:latin typeface="Aptos"/>
              </a:rPr>
              <a:t>Clothing + Accessories account for ≈76% of product revenue.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37575" y="3154680"/>
            <a:ext cx="41148" cy="1234440"/>
          </a:xfrm>
          <a:prstGeom prst="rect">
            <a:avLst/>
          </a:prstGeom>
          <a:solidFill>
            <a:srgbClr val="B8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83879" y="3154680"/>
            <a:ext cx="3374136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lnSpcReduction="10000"/>
          </a:bodyPr>
          <a:lstStyle/>
          <a:p>
            <a:pPr algn="l"/>
            <a:r>
              <a:rPr sz="1200" b="1">
                <a:solidFill>
                  <a:srgbClr val="282825"/>
                </a:solidFill>
                <a:latin typeface="Aptos"/>
              </a:rPr>
              <a:t>03  Retention opportunity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3465576"/>
            <a:ext cx="3374136" cy="9235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69" b="0">
                <a:solidFill>
                  <a:srgbClr val="5B5B56"/>
                </a:solidFill>
                <a:latin typeface="Aptos"/>
              </a:rPr>
              <a:t>A limited set of age-gender groups drives the top 70% of revenue.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4736592"/>
            <a:ext cx="10963656" cy="960120"/>
          </a:xfrm>
          <a:prstGeom prst="roundRect">
            <a:avLst/>
          </a:prstGeom>
          <a:solidFill>
            <a:srgbClr val="F0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" y="4956048"/>
            <a:ext cx="18288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00" b="1">
                <a:solidFill>
                  <a:srgbClr val="B89753"/>
                </a:solidFill>
                <a:latin typeface="Aptos"/>
              </a:rPr>
              <a:t>BUSINESS TAKEAWAY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901184"/>
            <a:ext cx="896112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00" b="1">
                <a:solidFill>
                  <a:srgbClr val="282825"/>
                </a:solidFill>
                <a:latin typeface="Aptos"/>
              </a:rPr>
              <a:t>Focus resources where revenue is concentrated, while testing targeted offers to close female subscription and promotion gaps.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9672"/>
            <a:ext cx="45720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92500"/>
          </a:bodyPr>
          <a:lstStyle/>
          <a:p>
            <a:pPr algn="l"/>
            <a:r>
              <a:rPr sz="700" b="1">
                <a:solidFill>
                  <a:srgbClr val="5B5B56"/>
                </a:solidFill>
                <a:latin typeface="Aptos"/>
              </a:rPr>
              <a:t>CUSTOMER SHOPPING BEHAVIOUR ANALYSIS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800" b="1" dirty="0">
                <a:solidFill>
                  <a:srgbClr val="5B5B56"/>
                </a:solidFill>
                <a:latin typeface="Aptos"/>
              </a:rPr>
              <a:t>0</a:t>
            </a:r>
            <a:r>
              <a:rPr lang="en-IN" sz="800" b="1" dirty="0">
                <a:solidFill>
                  <a:srgbClr val="5B5B56"/>
                </a:solidFill>
                <a:latin typeface="Aptos"/>
              </a:rPr>
              <a:t>1</a:t>
            </a:r>
            <a:endParaRPr sz="800" b="1" dirty="0">
              <a:solidFill>
                <a:srgbClr val="5B5B56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00" b="1">
                <a:solidFill>
                  <a:srgbClr val="B89753"/>
                </a:solidFill>
                <a:latin typeface="Apto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700" b="1">
                <a:solidFill>
                  <a:srgbClr val="282825"/>
                </a:solidFill>
                <a:latin typeface="Aptos"/>
              </a:rPr>
              <a:t>Dataset &amp; Analytical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914400" cy="41148"/>
          </a:xfrm>
          <a:prstGeom prst="rect">
            <a:avLst/>
          </a:prstGeom>
          <a:solidFill>
            <a:srgbClr val="B8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063240" y="1691640"/>
            <a:ext cx="2148840" cy="1143000"/>
          </a:xfrm>
          <a:prstGeom prst="roundRect">
            <a:avLst/>
          </a:prstGeom>
          <a:solidFill>
            <a:srgbClr val="E8E3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27832" y="1828800"/>
            <a:ext cx="1819656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92500" lnSpcReduction="20000"/>
          </a:bodyPr>
          <a:lstStyle/>
          <a:p>
            <a:pPr algn="l"/>
            <a:r>
              <a:rPr sz="2500" b="1">
                <a:solidFill>
                  <a:srgbClr val="282825"/>
                </a:solidFill>
                <a:latin typeface="Aptos"/>
              </a:rPr>
              <a:t>3,900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27832" y="2267712"/>
            <a:ext cx="181965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00" b="1">
                <a:solidFill>
                  <a:srgbClr val="5B5B56"/>
                </a:solidFill>
                <a:latin typeface="Aptos"/>
              </a:rPr>
              <a:t>Rows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0" y="1691640"/>
            <a:ext cx="2148840" cy="1143000"/>
          </a:xfrm>
          <a:prstGeom prst="roundRect">
            <a:avLst/>
          </a:prstGeom>
          <a:solidFill>
            <a:srgbClr val="E8E3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559552" y="1828800"/>
            <a:ext cx="1819656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92500" lnSpcReduction="20000"/>
          </a:bodyPr>
          <a:lstStyle/>
          <a:p>
            <a:pPr algn="l"/>
            <a:r>
              <a:rPr sz="2500" b="1">
                <a:solidFill>
                  <a:srgbClr val="282825"/>
                </a:solidFill>
                <a:latin typeface="Aptos"/>
              </a:rP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59552" y="2267712"/>
            <a:ext cx="181965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00" b="1">
                <a:solidFill>
                  <a:srgbClr val="5B5B56"/>
                </a:solidFill>
                <a:latin typeface="Aptos"/>
              </a:rPr>
              <a:t>Columns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691640"/>
            <a:ext cx="2148840" cy="1143000"/>
          </a:xfrm>
          <a:prstGeom prst="roundRect">
            <a:avLst/>
          </a:prstGeom>
          <a:solidFill>
            <a:srgbClr val="E8E3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91271" y="1828800"/>
            <a:ext cx="1819656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92500" lnSpcReduction="20000"/>
          </a:bodyPr>
          <a:lstStyle/>
          <a:p>
            <a:pPr algn="l"/>
            <a:r>
              <a:rPr sz="2500" b="1">
                <a:solidFill>
                  <a:srgbClr val="282825"/>
                </a:solidFill>
                <a:latin typeface="Aptos"/>
              </a:rPr>
              <a:t>37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91271" y="2267712"/>
            <a:ext cx="181965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00" b="1">
                <a:solidFill>
                  <a:srgbClr val="5B5B56"/>
                </a:solidFill>
                <a:latin typeface="Aptos"/>
              </a:rPr>
              <a:t>Missing review ratings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3246120"/>
            <a:ext cx="7315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100" b="1">
                <a:solidFill>
                  <a:srgbClr val="B89753"/>
                </a:solidFill>
                <a:latin typeface="Aptos"/>
              </a:rPr>
              <a:t>WHAT THE DATA COVERS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3611880"/>
            <a:ext cx="7909560" cy="9601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500" b="0">
                <a:solidFill>
                  <a:srgbClr val="282825"/>
                </a:solidFill>
                <a:latin typeface="Aptos"/>
              </a:rPr>
              <a:t>Demographics • item &amp; category • purchase amount • season • discounts • promo usage • purchase frequency • ratings • shipping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90672" y="4800600"/>
            <a:ext cx="7909560" cy="868680"/>
          </a:xfrm>
          <a:prstGeom prst="roundRect">
            <a:avLst/>
          </a:prstGeom>
          <a:solidFill>
            <a:srgbClr val="F0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10128" y="5001768"/>
            <a:ext cx="74523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100" b="1">
                <a:solidFill>
                  <a:srgbClr val="5B5B56"/>
                </a:solidFill>
                <a:latin typeface="Aptos"/>
              </a:rPr>
              <a:t>Data quality action: 37 review_rating values were imputed with the mean.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9672"/>
            <a:ext cx="45720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92500"/>
          </a:bodyPr>
          <a:lstStyle/>
          <a:p>
            <a:pPr algn="l"/>
            <a:r>
              <a:rPr sz="700" b="1">
                <a:solidFill>
                  <a:srgbClr val="5B5B56"/>
                </a:solidFill>
                <a:latin typeface="Aptos"/>
              </a:rPr>
              <a:t>CUSTOMER SHOPPING BEHAVIOUR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800" b="1" dirty="0">
                <a:solidFill>
                  <a:srgbClr val="5B5B56"/>
                </a:solidFill>
                <a:latin typeface="Aptos"/>
              </a:rPr>
              <a:t>0</a:t>
            </a:r>
            <a:r>
              <a:rPr lang="en-IN" sz="800" b="1" dirty="0">
                <a:solidFill>
                  <a:srgbClr val="5B5B56"/>
                </a:solidFill>
                <a:latin typeface="Aptos"/>
              </a:rPr>
              <a:t>2</a:t>
            </a:r>
            <a:endParaRPr sz="800" b="1" dirty="0">
              <a:solidFill>
                <a:srgbClr val="5B5B56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00" b="1">
                <a:solidFill>
                  <a:srgbClr val="B89753"/>
                </a:solidFill>
                <a:latin typeface="Apto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700" b="1">
                <a:solidFill>
                  <a:srgbClr val="282825"/>
                </a:solidFill>
                <a:latin typeface="Aptos"/>
              </a:rPr>
              <a:t>EDA &amp; Data Preparation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914400" cy="41148"/>
          </a:xfrm>
          <a:prstGeom prst="rect">
            <a:avLst/>
          </a:prstGeom>
          <a:solidFill>
            <a:srgbClr val="B8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324612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901952"/>
            <a:ext cx="457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100" b="1">
                <a:solidFill>
                  <a:srgbClr val="B89753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26517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800" b="1">
                <a:solidFill>
                  <a:srgbClr val="282825"/>
                </a:solidFill>
                <a:latin typeface="Aptos"/>
              </a:rPr>
              <a:t>Clean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80360"/>
            <a:ext cx="2697480" cy="1325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100" b="0" dirty="0">
                <a:solidFill>
                  <a:srgbClr val="5B5B56"/>
                </a:solidFill>
                <a:latin typeface="Aptos"/>
              </a:rPr>
              <a:t>Imported with pandas; checked cardinality, </a:t>
            </a:r>
            <a:r>
              <a:rPr lang="en-IN" sz="1100" b="0" dirty="0">
                <a:solidFill>
                  <a:srgbClr val="5B5B56"/>
                </a:solidFill>
                <a:latin typeface="Aptos"/>
              </a:rPr>
              <a:t>.</a:t>
            </a:r>
            <a:r>
              <a:rPr sz="1100" b="0" dirty="0" err="1">
                <a:solidFill>
                  <a:srgbClr val="5B5B56"/>
                </a:solidFill>
                <a:latin typeface="Aptos"/>
              </a:rPr>
              <a:t>describ</a:t>
            </a:r>
            <a:r>
              <a:rPr lang="en-IN" sz="1100" b="0" dirty="0">
                <a:solidFill>
                  <a:srgbClr val="5B5B56"/>
                </a:solidFill>
                <a:latin typeface="Aptos"/>
              </a:rPr>
              <a:t>e(), .</a:t>
            </a:r>
            <a:r>
              <a:rPr sz="1100" b="0" dirty="0">
                <a:solidFill>
                  <a:srgbClr val="5B5B56"/>
                </a:solidFill>
                <a:latin typeface="Aptos"/>
              </a:rPr>
              <a:t>info</a:t>
            </a:r>
            <a:r>
              <a:rPr lang="en-IN" sz="1100" b="0" dirty="0">
                <a:solidFill>
                  <a:srgbClr val="5B5B56"/>
                </a:solidFill>
                <a:latin typeface="Aptos"/>
              </a:rPr>
              <a:t>(),</a:t>
            </a:r>
            <a:r>
              <a:rPr sz="1100" b="0" dirty="0">
                <a:solidFill>
                  <a:srgbClr val="5B5B56"/>
                </a:solidFill>
                <a:latin typeface="Aptos"/>
              </a:rPr>
              <a:t> outputs and duplicates.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572000"/>
            <a:ext cx="26517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800" b="1">
                <a:solidFill>
                  <a:srgbClr val="B89753"/>
                </a:solidFill>
                <a:latin typeface="Aptos"/>
              </a:rPr>
              <a:t>READY FOR SQL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645920"/>
            <a:ext cx="324612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0" y="1901952"/>
            <a:ext cx="457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100" b="1">
                <a:solidFill>
                  <a:srgbClr val="B89753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331720"/>
            <a:ext cx="26517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lang="en-IN" b="1" dirty="0">
                <a:solidFill>
                  <a:srgbClr val="282825"/>
                </a:solidFill>
                <a:latin typeface="Aptos"/>
              </a:rPr>
              <a:t>Transformation</a:t>
            </a:r>
            <a:endParaRPr sz="1800" b="1" dirty="0">
              <a:solidFill>
                <a:srgbClr val="282825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389120" y="2880360"/>
            <a:ext cx="2697480" cy="1325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100" b="0" dirty="0">
                <a:solidFill>
                  <a:srgbClr val="5B5B56"/>
                </a:solidFill>
                <a:latin typeface="Aptos"/>
              </a:rPr>
              <a:t>Renamed columns to </a:t>
            </a:r>
            <a:r>
              <a:rPr sz="1100" b="0" dirty="0" err="1">
                <a:solidFill>
                  <a:srgbClr val="5B5B56"/>
                </a:solidFill>
                <a:latin typeface="Aptos"/>
              </a:rPr>
              <a:t>snake_case</a:t>
            </a:r>
            <a:r>
              <a:rPr sz="1100" b="0" dirty="0">
                <a:solidFill>
                  <a:srgbClr val="5B5B56"/>
                </a:solidFill>
                <a:latin typeface="Aptos"/>
              </a:rPr>
              <a:t>; imputed 37 ratings; </a:t>
            </a:r>
            <a:r>
              <a:rPr lang="en-IN" sz="1100" b="0" dirty="0">
                <a:solidFill>
                  <a:srgbClr val="5B5B56"/>
                </a:solidFill>
                <a:latin typeface="Aptos"/>
              </a:rPr>
              <a:t>dropped</a:t>
            </a:r>
            <a:r>
              <a:rPr sz="1100" b="0" dirty="0">
                <a:solidFill>
                  <a:srgbClr val="5B5B56"/>
                </a:solidFill>
                <a:latin typeface="Aptos"/>
              </a:rPr>
              <a:t> redundant </a:t>
            </a:r>
            <a:r>
              <a:rPr sz="1100" b="0" dirty="0" err="1">
                <a:solidFill>
                  <a:srgbClr val="5B5B56"/>
                </a:solidFill>
                <a:latin typeface="Aptos"/>
              </a:rPr>
              <a:t>discount_applied</a:t>
            </a:r>
            <a:r>
              <a:rPr sz="1100" b="0" dirty="0">
                <a:solidFill>
                  <a:srgbClr val="5B5B56"/>
                </a:solidFill>
                <a:latin typeface="Aptos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4572000"/>
            <a:ext cx="26517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800" b="1">
                <a:solidFill>
                  <a:srgbClr val="B89753"/>
                </a:solidFill>
                <a:latin typeface="Aptos"/>
              </a:rPr>
              <a:t>CLEAN EXPORT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1645920"/>
            <a:ext cx="324612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09560" y="1901952"/>
            <a:ext cx="457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100" b="1">
                <a:solidFill>
                  <a:srgbClr val="B89753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331720"/>
            <a:ext cx="26517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lang="en-IN" sz="1800" b="1" dirty="0">
                <a:solidFill>
                  <a:srgbClr val="282825"/>
                </a:solidFill>
                <a:latin typeface="Aptos"/>
              </a:rPr>
              <a:t>Feature Engineering</a:t>
            </a:r>
            <a:endParaRPr sz="1800" b="1" dirty="0">
              <a:solidFill>
                <a:srgbClr val="282825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909560" y="2880360"/>
            <a:ext cx="2697480" cy="1325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100" b="0">
                <a:solidFill>
                  <a:srgbClr val="5B5B56"/>
                </a:solidFill>
                <a:latin typeface="Aptos"/>
              </a:rPr>
              <a:t>Created purchase_frequency_days and age_group bins; renamed repeat_purchase_count.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4572000"/>
            <a:ext cx="26517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800" b="1">
                <a:solidFill>
                  <a:srgbClr val="B89753"/>
                </a:solidFill>
                <a:latin typeface="Aptos"/>
              </a:rPr>
              <a:t>ANALYSIS-READY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9672"/>
            <a:ext cx="45720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92500"/>
          </a:bodyPr>
          <a:lstStyle/>
          <a:p>
            <a:pPr algn="l"/>
            <a:r>
              <a:rPr sz="700" b="1">
                <a:solidFill>
                  <a:srgbClr val="5B5B56"/>
                </a:solidFill>
                <a:latin typeface="Aptos"/>
              </a:rPr>
              <a:t>CUSTOMER SHOPPING BEHAVIOUR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800" b="1" dirty="0">
                <a:solidFill>
                  <a:srgbClr val="5B5B56"/>
                </a:solidFill>
                <a:latin typeface="Aptos"/>
              </a:rPr>
              <a:t>0</a:t>
            </a:r>
            <a:r>
              <a:rPr lang="en-IN" sz="800" b="1" dirty="0">
                <a:solidFill>
                  <a:srgbClr val="5B5B56"/>
                </a:solidFill>
                <a:latin typeface="Aptos"/>
              </a:rPr>
              <a:t>3</a:t>
            </a:r>
            <a:endParaRPr sz="800" b="1" dirty="0">
              <a:solidFill>
                <a:srgbClr val="5B5B56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00" b="1">
                <a:solidFill>
                  <a:srgbClr val="B89753"/>
                </a:solidFill>
                <a:latin typeface="Apto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700" b="1">
                <a:solidFill>
                  <a:srgbClr val="282825"/>
                </a:solidFill>
                <a:latin typeface="Aptos"/>
              </a:rPr>
              <a:t>SQL Analysis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914400" cy="41148"/>
          </a:xfrm>
          <a:prstGeom prst="rect">
            <a:avLst/>
          </a:prstGeom>
          <a:solidFill>
            <a:srgbClr val="B8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2331720" cy="2468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337560" y="1737360"/>
            <a:ext cx="77724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00" b="1" dirty="0">
                <a:solidFill>
                  <a:srgbClr val="B89753"/>
                </a:solidFill>
                <a:latin typeface="Aptos"/>
              </a:rPr>
              <a:t>ONE CLEAN DATASET</a:t>
            </a:r>
            <a:r>
              <a:rPr lang="en-IN" sz="1200" b="1" dirty="0">
                <a:solidFill>
                  <a:srgbClr val="B89753"/>
                </a:solidFill>
                <a:latin typeface="Aptos"/>
              </a:rPr>
              <a:t> UPLOADED</a:t>
            </a:r>
            <a:r>
              <a:rPr sz="1200" b="1" dirty="0">
                <a:solidFill>
                  <a:srgbClr val="B89753"/>
                </a:solidFill>
                <a:latin typeface="Aptos"/>
              </a:rPr>
              <a:t> • </a:t>
            </a:r>
            <a:r>
              <a:rPr lang="en-IN" sz="1200" b="1" dirty="0">
                <a:solidFill>
                  <a:srgbClr val="B89753"/>
                </a:solidFill>
                <a:latin typeface="Aptos"/>
              </a:rPr>
              <a:t>FOUR-PART ANALYSIS FRAMEWORK</a:t>
            </a:r>
            <a:endParaRPr sz="1200" b="1" dirty="0">
              <a:solidFill>
                <a:srgbClr val="B89753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3280" y="2331720"/>
            <a:ext cx="411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00" b="1">
                <a:solidFill>
                  <a:srgbClr val="B89753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2331720"/>
            <a:ext cx="233172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100" b="1">
                <a:solidFill>
                  <a:srgbClr val="282825"/>
                </a:solidFill>
                <a:latin typeface="Aptos"/>
              </a:rPr>
              <a:t>Customer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8432" y="2331720"/>
            <a:ext cx="4572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50" b="0" dirty="0">
                <a:solidFill>
                  <a:srgbClr val="5B5B56"/>
                </a:solidFill>
                <a:latin typeface="Aptos"/>
              </a:rPr>
              <a:t>Who are the valuable customer segments?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86200" y="2816352"/>
            <a:ext cx="6903720" cy="10972"/>
          </a:xfrm>
          <a:prstGeom prst="rect">
            <a:avLst/>
          </a:prstGeom>
          <a:solidFill>
            <a:srgbClr val="CFC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83280" y="3172968"/>
            <a:ext cx="411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00" b="1">
                <a:solidFill>
                  <a:srgbClr val="B89753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3172968"/>
            <a:ext cx="233172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100" b="1">
                <a:solidFill>
                  <a:srgbClr val="282825"/>
                </a:solidFill>
                <a:latin typeface="Aptos"/>
              </a:rPr>
              <a:t>Product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4994" y="3172968"/>
            <a:ext cx="4572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50" b="0" dirty="0">
                <a:solidFill>
                  <a:srgbClr val="5B5B56"/>
                </a:solidFill>
                <a:latin typeface="Aptos"/>
              </a:rPr>
              <a:t>Which categories and products lead revenue?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86200" y="3657600"/>
            <a:ext cx="6903720" cy="10972"/>
          </a:xfrm>
          <a:prstGeom prst="rect">
            <a:avLst/>
          </a:prstGeom>
          <a:solidFill>
            <a:srgbClr val="CFC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83280" y="4014215"/>
            <a:ext cx="411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00" b="1">
                <a:solidFill>
                  <a:srgbClr val="B89753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4014215"/>
            <a:ext cx="233172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100" b="1">
                <a:solidFill>
                  <a:srgbClr val="282825"/>
                </a:solidFill>
                <a:latin typeface="Aptos"/>
              </a:rPr>
              <a:t>Marketing &amp; Promotion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32702" y="4014215"/>
            <a:ext cx="4572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50" b="0" dirty="0">
                <a:solidFill>
                  <a:srgbClr val="5B5B56"/>
                </a:solidFill>
                <a:latin typeface="Aptos"/>
              </a:rPr>
              <a:t>How do promo and payment </a:t>
            </a:r>
            <a:r>
              <a:rPr sz="950" b="0" dirty="0" err="1">
                <a:solidFill>
                  <a:srgbClr val="5B5B56"/>
                </a:solidFill>
                <a:latin typeface="Aptos"/>
              </a:rPr>
              <a:t>behaviours</a:t>
            </a:r>
            <a:r>
              <a:rPr sz="950" b="0" dirty="0">
                <a:solidFill>
                  <a:srgbClr val="5B5B56"/>
                </a:solidFill>
                <a:latin typeface="Aptos"/>
              </a:rPr>
              <a:t> differ?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86200" y="4498848"/>
            <a:ext cx="6903720" cy="10972"/>
          </a:xfrm>
          <a:prstGeom prst="rect">
            <a:avLst/>
          </a:prstGeom>
          <a:solidFill>
            <a:srgbClr val="CFC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83280" y="4855464"/>
            <a:ext cx="411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00" b="1">
                <a:solidFill>
                  <a:srgbClr val="B89753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4855464"/>
            <a:ext cx="233172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85000" lnSpcReduction="10000"/>
          </a:bodyPr>
          <a:lstStyle/>
          <a:p>
            <a:pPr algn="l"/>
            <a:r>
              <a:rPr sz="1100" b="1" dirty="0">
                <a:solidFill>
                  <a:srgbClr val="282825"/>
                </a:solidFill>
                <a:latin typeface="Aptos"/>
              </a:rPr>
              <a:t>Customer Loyalty</a:t>
            </a:r>
            <a:r>
              <a:rPr lang="en-IN" sz="1100" b="1" dirty="0">
                <a:solidFill>
                  <a:srgbClr val="282825"/>
                </a:solidFill>
                <a:latin typeface="Aptos"/>
              </a:rPr>
              <a:t> and Repeat Behaviour</a:t>
            </a:r>
            <a:endParaRPr sz="1100" b="1" dirty="0">
              <a:solidFill>
                <a:srgbClr val="282825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708112" y="4855464"/>
            <a:ext cx="4572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50" b="0">
                <a:solidFill>
                  <a:srgbClr val="5B5B56"/>
                </a:solidFill>
                <a:latin typeface="Aptos"/>
              </a:rPr>
              <a:t>Which segments drive repeat purchase and the top 70% of revenue?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37560" y="5715000"/>
            <a:ext cx="7452360" cy="502920"/>
          </a:xfrm>
          <a:prstGeom prst="roundRect">
            <a:avLst/>
          </a:prstGeom>
          <a:solidFill>
            <a:srgbClr val="F0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566160" y="5843016"/>
            <a:ext cx="70408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92500" lnSpcReduction="10000"/>
          </a:bodyPr>
          <a:lstStyle/>
          <a:p>
            <a:pPr algn="l"/>
            <a:r>
              <a:rPr sz="950" b="1">
                <a:solidFill>
                  <a:srgbClr val="5B5B56"/>
                </a:solidFill>
                <a:latin typeface="Aptos"/>
              </a:rPr>
              <a:t>All visuals and tables were generated from SQL queries against the cleaned export.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9672"/>
            <a:ext cx="45720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92500"/>
          </a:bodyPr>
          <a:lstStyle/>
          <a:p>
            <a:pPr algn="l"/>
            <a:r>
              <a:rPr sz="700" b="1">
                <a:solidFill>
                  <a:srgbClr val="5B5B56"/>
                </a:solidFill>
                <a:latin typeface="Aptos"/>
              </a:rPr>
              <a:t>CUSTOMER SHOPPING BEHAVIOUR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800" b="1" dirty="0">
                <a:solidFill>
                  <a:srgbClr val="5B5B56"/>
                </a:solidFill>
                <a:latin typeface="Aptos"/>
              </a:rPr>
              <a:t>0</a:t>
            </a:r>
            <a:r>
              <a:rPr lang="en-IN" sz="800" b="1" dirty="0">
                <a:solidFill>
                  <a:srgbClr val="5B5B56"/>
                </a:solidFill>
                <a:latin typeface="Aptos"/>
              </a:rPr>
              <a:t>4</a:t>
            </a:r>
            <a:endParaRPr sz="800" b="1" dirty="0">
              <a:solidFill>
                <a:srgbClr val="5B5B56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00" b="1">
                <a:solidFill>
                  <a:srgbClr val="B89753"/>
                </a:solidFill>
                <a:latin typeface="Aptos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700" b="1">
                <a:solidFill>
                  <a:srgbClr val="282825"/>
                </a:solidFill>
                <a:latin typeface="Aptos"/>
              </a:rPr>
              <a:t>Customer Overview — Key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914400" cy="41148"/>
          </a:xfrm>
          <a:prstGeom prst="rect">
            <a:avLst/>
          </a:prstGeom>
          <a:solidFill>
            <a:srgbClr val="B8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977639" y="1783080"/>
            <a:ext cx="2331720" cy="1188720"/>
          </a:xfrm>
          <a:prstGeom prst="roundRect">
            <a:avLst/>
          </a:prstGeom>
          <a:solidFill>
            <a:srgbClr val="E8E3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42231" y="1920240"/>
            <a:ext cx="2002536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92500" lnSpcReduction="20000"/>
          </a:bodyPr>
          <a:lstStyle/>
          <a:p>
            <a:pPr algn="l"/>
            <a:r>
              <a:rPr sz="2500" b="1">
                <a:solidFill>
                  <a:srgbClr val="282825"/>
                </a:solidFill>
                <a:latin typeface="Aptos"/>
              </a:rPr>
              <a:t>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42231" y="2359152"/>
            <a:ext cx="200253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00" b="1">
                <a:solidFill>
                  <a:srgbClr val="5B5B56"/>
                </a:solidFill>
                <a:latin typeface="Aptos"/>
              </a:rPr>
              <a:t>Female subscribers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42231" y="2651760"/>
            <a:ext cx="2002536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850" b="0">
                <a:solidFill>
                  <a:srgbClr val="5B5B56"/>
                </a:solidFill>
                <a:latin typeface="Aptos"/>
              </a:rPr>
              <a:t>Subscription base is entirely male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1783080"/>
            <a:ext cx="2331720" cy="1188720"/>
          </a:xfrm>
          <a:prstGeom prst="roundRect">
            <a:avLst/>
          </a:prstGeom>
          <a:solidFill>
            <a:srgbClr val="E8E3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02552" y="1920240"/>
            <a:ext cx="2002536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92500" lnSpcReduction="20000"/>
          </a:bodyPr>
          <a:lstStyle/>
          <a:p>
            <a:pPr algn="l"/>
            <a:r>
              <a:rPr sz="2500" b="1">
                <a:solidFill>
                  <a:srgbClr val="282825"/>
                </a:solidFill>
                <a:latin typeface="Aptos"/>
              </a:rPr>
              <a:t>0.16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2552" y="2359152"/>
            <a:ext cx="200253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00" b="1">
                <a:solidFill>
                  <a:srgbClr val="5B5B56"/>
                </a:solidFill>
                <a:latin typeface="Aptos"/>
              </a:rPr>
              <a:t>Frequency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2552" y="2651760"/>
            <a:ext cx="2002536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850" b="0">
                <a:solidFill>
                  <a:srgbClr val="5B5B56"/>
                </a:solidFill>
                <a:latin typeface="Aptos"/>
              </a:rPr>
              <a:t>Subscribers vs non-subscribers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1783080"/>
            <a:ext cx="2331720" cy="1188720"/>
          </a:xfrm>
          <a:prstGeom prst="roundRect">
            <a:avLst/>
          </a:prstGeom>
          <a:solidFill>
            <a:srgbClr val="E8E3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62872" y="1920240"/>
            <a:ext cx="2002536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92500" lnSpcReduction="20000"/>
          </a:bodyPr>
          <a:lstStyle/>
          <a:p>
            <a:pPr algn="l"/>
            <a:r>
              <a:rPr sz="2500" b="1">
                <a:solidFill>
                  <a:srgbClr val="282825"/>
                </a:solidFill>
                <a:latin typeface="Aptos"/>
              </a:rPr>
              <a:t>70%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62872" y="2359152"/>
            <a:ext cx="2002536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00" b="1">
                <a:solidFill>
                  <a:srgbClr val="5B5B56"/>
                </a:solidFill>
                <a:latin typeface="Aptos"/>
              </a:rPr>
              <a:t>Revenue lens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62872" y="2651760"/>
            <a:ext cx="2002536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850" b="0">
                <a:solidFill>
                  <a:srgbClr val="5B5B56"/>
                </a:solidFill>
                <a:latin typeface="Aptos"/>
              </a:rPr>
              <a:t>Pareto concentration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77639" y="3337560"/>
            <a:ext cx="41148" cy="1143000"/>
          </a:xfrm>
          <a:prstGeom prst="rect">
            <a:avLst/>
          </a:prstGeom>
          <a:solidFill>
            <a:srgbClr val="B8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23944" y="3337560"/>
            <a:ext cx="7306056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lnSpcReduction="10000"/>
          </a:bodyPr>
          <a:lstStyle/>
          <a:p>
            <a:pPr algn="l"/>
            <a:r>
              <a:rPr sz="1200" b="1">
                <a:solidFill>
                  <a:srgbClr val="282825"/>
                </a:solidFill>
                <a:latin typeface="Aptos"/>
              </a:rPr>
              <a:t>Top-value segments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23944" y="3648456"/>
            <a:ext cx="7306056" cy="832103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69" b="0">
                <a:solidFill>
                  <a:srgbClr val="5B5B56"/>
                </a:solidFill>
                <a:latin typeface="Aptos"/>
              </a:rPr>
              <a:t>A small set of age-gender segments generate the majority of revenue based on average revenue per customer.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77639" y="4617720"/>
            <a:ext cx="41148" cy="1143000"/>
          </a:xfrm>
          <a:prstGeom prst="rect">
            <a:avLst/>
          </a:prstGeom>
          <a:solidFill>
            <a:srgbClr val="B8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23944" y="4617720"/>
            <a:ext cx="7306056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lnSpcReduction="10000"/>
          </a:bodyPr>
          <a:lstStyle/>
          <a:p>
            <a:pPr algn="l"/>
            <a:r>
              <a:rPr sz="1200" b="1">
                <a:solidFill>
                  <a:srgbClr val="282825"/>
                </a:solidFill>
                <a:latin typeface="Aptos"/>
              </a:rPr>
              <a:t>Subscription finding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23944" y="4928616"/>
            <a:ext cx="7306056" cy="832103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69" b="0">
                <a:solidFill>
                  <a:srgbClr val="5B5B56"/>
                </a:solidFill>
                <a:latin typeface="Aptos"/>
              </a:rPr>
              <a:t>Average purchase frequency differs only minimally between subscribers and non-subscribers.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9672"/>
            <a:ext cx="45720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92500"/>
          </a:bodyPr>
          <a:lstStyle/>
          <a:p>
            <a:pPr algn="l"/>
            <a:r>
              <a:rPr sz="700" b="1">
                <a:solidFill>
                  <a:srgbClr val="5B5B56"/>
                </a:solidFill>
                <a:latin typeface="Aptos"/>
              </a:rPr>
              <a:t>CUSTOMER SHOPPING BEHAVIOUR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800" b="1" dirty="0">
                <a:solidFill>
                  <a:srgbClr val="5B5B56"/>
                </a:solidFill>
                <a:latin typeface="Aptos"/>
              </a:rPr>
              <a:t>0</a:t>
            </a:r>
            <a:r>
              <a:rPr lang="en-IN" sz="800" b="1" dirty="0">
                <a:solidFill>
                  <a:srgbClr val="5B5B56"/>
                </a:solidFill>
                <a:latin typeface="Aptos"/>
              </a:rPr>
              <a:t>5</a:t>
            </a:r>
            <a:endParaRPr sz="800" b="1" dirty="0">
              <a:solidFill>
                <a:srgbClr val="5B5B56"/>
              </a:solidFill>
              <a:latin typeface="Aptos"/>
            </a:endParaRPr>
          </a:p>
        </p:txBody>
      </p:sp>
      <p:pic>
        <p:nvPicPr>
          <p:cNvPr id="27" name="Image 0" descr="preencoded.png">
            <a:extLst>
              <a:ext uri="{FF2B5EF4-FFF2-40B4-BE49-F238E27FC236}">
                <a16:creationId xmlns:a16="http://schemas.microsoft.com/office/drawing/2014/main" id="{446F0E36-6A96-9B6F-F5D6-46F3A181BE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1" y="1874520"/>
            <a:ext cx="3019752" cy="30198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00" b="1">
                <a:solidFill>
                  <a:srgbClr val="B89753"/>
                </a:solidFill>
                <a:latin typeface="Aptos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700" b="1">
                <a:solidFill>
                  <a:srgbClr val="282825"/>
                </a:solidFill>
                <a:latin typeface="Aptos"/>
              </a:rPr>
              <a:t>Product Analysis — Revenue Concentration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914400" cy="41148"/>
          </a:xfrm>
          <a:prstGeom prst="rect">
            <a:avLst/>
          </a:prstGeom>
          <a:solidFill>
            <a:srgbClr val="B8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48463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100" b="1">
                <a:solidFill>
                  <a:srgbClr val="B89753"/>
                </a:solidFill>
                <a:latin typeface="Aptos"/>
              </a:rPr>
              <a:t>PRODUCT REVENUE SHARE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1417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00" b="1">
                <a:solidFill>
                  <a:srgbClr val="282825"/>
                </a:solidFill>
                <a:latin typeface="Aptos"/>
              </a:rPr>
              <a:t>Clothing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2167128"/>
            <a:ext cx="5029200" cy="347472"/>
          </a:xfrm>
          <a:prstGeom prst="roundRect">
            <a:avLst/>
          </a:prstGeom>
          <a:solidFill>
            <a:srgbClr val="E8E3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103120" y="2167128"/>
            <a:ext cx="2246400" cy="347472"/>
          </a:xfrm>
          <a:prstGeom prst="roundRect">
            <a:avLst/>
          </a:prstGeom>
          <a:solidFill>
            <a:srgbClr val="B8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69480" y="2148840"/>
            <a:ext cx="914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00" b="1">
                <a:solidFill>
                  <a:srgbClr val="282825"/>
                </a:solidFill>
                <a:latin typeface="Aptos"/>
              </a:rPr>
              <a:t>44.7%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154680"/>
            <a:ext cx="1417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00" b="1">
                <a:solidFill>
                  <a:srgbClr val="282825"/>
                </a:solidFill>
                <a:latin typeface="Aptos"/>
              </a:rPr>
              <a:t>Accessories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03120" y="3172968"/>
            <a:ext cx="5029200" cy="347472"/>
          </a:xfrm>
          <a:prstGeom prst="roundRect">
            <a:avLst/>
          </a:prstGeom>
          <a:solidFill>
            <a:srgbClr val="E8E3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103120" y="3172968"/>
            <a:ext cx="1594800" cy="347472"/>
          </a:xfrm>
          <a:prstGeom prst="roundRect">
            <a:avLst/>
          </a:prstGeom>
          <a:solidFill>
            <a:srgbClr val="B8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69480" y="3154680"/>
            <a:ext cx="914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200" b="1">
                <a:solidFill>
                  <a:srgbClr val="282825"/>
                </a:solidFill>
                <a:latin typeface="Aptos"/>
              </a:rPr>
              <a:t>31.7%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434840"/>
            <a:ext cx="640080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400" b="1">
                <a:solidFill>
                  <a:srgbClr val="282825"/>
                </a:solidFill>
                <a:latin typeface="Aptos"/>
              </a:rPr>
              <a:t>Combined Clothing + Accessories ≈ 76% of product revenue.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645920"/>
            <a:ext cx="3429000" cy="3611880"/>
          </a:xfrm>
          <a:prstGeom prst="roundRect">
            <a:avLst/>
          </a:prstGeom>
          <a:solidFill>
            <a:srgbClr val="E8E3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1920240"/>
            <a:ext cx="28346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600" b="1">
                <a:solidFill>
                  <a:srgbClr val="282825"/>
                </a:solidFill>
                <a:latin typeface="Aptos"/>
              </a:rPr>
              <a:t>JEANS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423160"/>
            <a:ext cx="274320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400" b="1">
                <a:solidFill>
                  <a:srgbClr val="5B5B56"/>
                </a:solidFill>
                <a:latin typeface="Aptos"/>
              </a:rPr>
              <a:t>Sales are notably lower.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3566160"/>
            <a:ext cx="2743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00" b="1">
                <a:solidFill>
                  <a:srgbClr val="B89753"/>
                </a:solidFill>
                <a:latin typeface="Aptos"/>
              </a:rPr>
              <a:t>Recommended 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3977639"/>
            <a:ext cx="2743200" cy="8686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100" b="0">
                <a:solidFill>
                  <a:srgbClr val="5B5B56"/>
                </a:solidFill>
                <a:latin typeface="Aptos"/>
              </a:rPr>
              <a:t>Review product, pricing and logistics factors behind lower sales.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9672"/>
            <a:ext cx="45720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92500"/>
          </a:bodyPr>
          <a:lstStyle/>
          <a:p>
            <a:pPr algn="l"/>
            <a:r>
              <a:rPr sz="700" b="1">
                <a:solidFill>
                  <a:srgbClr val="5B5B56"/>
                </a:solidFill>
                <a:latin typeface="Aptos"/>
              </a:rPr>
              <a:t>CUSTOMER SHOPPING BEHAVIOUR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800" b="1" dirty="0">
                <a:solidFill>
                  <a:srgbClr val="5B5B56"/>
                </a:solidFill>
                <a:latin typeface="Aptos"/>
              </a:rPr>
              <a:t>0</a:t>
            </a:r>
            <a:r>
              <a:rPr lang="en-IN" sz="800" b="1" dirty="0">
                <a:solidFill>
                  <a:srgbClr val="5B5B56"/>
                </a:solidFill>
                <a:latin typeface="Aptos"/>
              </a:rPr>
              <a:t>6</a:t>
            </a:r>
            <a:endParaRPr sz="800" b="1" dirty="0">
              <a:solidFill>
                <a:srgbClr val="5B5B56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00" b="1">
                <a:solidFill>
                  <a:srgbClr val="B89753"/>
                </a:solidFill>
                <a:latin typeface="Aptos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700" b="1">
                <a:solidFill>
                  <a:srgbClr val="282825"/>
                </a:solidFill>
                <a:latin typeface="Aptos"/>
              </a:rPr>
              <a:t>Marketing &amp; Promotion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914400" cy="41148"/>
          </a:xfrm>
          <a:prstGeom prst="rect">
            <a:avLst/>
          </a:prstGeom>
          <a:solidFill>
            <a:srgbClr val="B8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57600" y="1508289"/>
            <a:ext cx="2726892" cy="1463511"/>
          </a:xfrm>
          <a:prstGeom prst="roundRect">
            <a:avLst/>
          </a:prstGeom>
          <a:solidFill>
            <a:srgbClr val="E8E3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22191" y="1803252"/>
            <a:ext cx="2326206" cy="455315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500" b="1">
                <a:solidFill>
                  <a:srgbClr val="282825"/>
                </a:solidFill>
                <a:latin typeface="Aptos"/>
              </a:rPr>
              <a:t>839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22191" y="2262527"/>
            <a:ext cx="2326206" cy="325225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00" b="1">
                <a:solidFill>
                  <a:srgbClr val="5B5B56"/>
                </a:solidFill>
                <a:latin typeface="Aptos"/>
              </a:rPr>
              <a:t>High-spend customers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22191" y="2546650"/>
            <a:ext cx="2326206" cy="379429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850" b="0">
                <a:solidFill>
                  <a:srgbClr val="5B5B56"/>
                </a:solidFill>
                <a:latin typeface="Aptos"/>
              </a:rPr>
              <a:t>Use promo codes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95972" y="1508289"/>
            <a:ext cx="2633849" cy="1463511"/>
          </a:xfrm>
          <a:prstGeom prst="roundRect">
            <a:avLst/>
          </a:prstGeom>
          <a:solidFill>
            <a:srgbClr val="E8E3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18395" y="1803252"/>
            <a:ext cx="2246834" cy="455315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500" b="1">
                <a:solidFill>
                  <a:srgbClr val="282825"/>
                </a:solidFill>
                <a:latin typeface="Aptos"/>
              </a:rPr>
              <a:t>0.02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18395" y="2262527"/>
            <a:ext cx="2246834" cy="325225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00" b="1">
                <a:solidFill>
                  <a:srgbClr val="5B5B56"/>
                </a:solidFill>
                <a:latin typeface="Aptos"/>
              </a:rPr>
              <a:t>Rating difference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18395" y="2546650"/>
            <a:ext cx="2246834" cy="379429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850" b="0">
                <a:solidFill>
                  <a:srgbClr val="5B5B56"/>
                </a:solidFill>
                <a:latin typeface="Aptos"/>
              </a:rPr>
              <a:t>Promo vs non-promo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3429000"/>
            <a:ext cx="41148" cy="1005840"/>
          </a:xfrm>
          <a:prstGeom prst="rect">
            <a:avLst/>
          </a:prstGeom>
          <a:solidFill>
            <a:srgbClr val="B8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03904" y="3429000"/>
            <a:ext cx="7306056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lnSpcReduction="10000"/>
          </a:bodyPr>
          <a:lstStyle/>
          <a:p>
            <a:pPr algn="l"/>
            <a:r>
              <a:rPr sz="1200" b="1">
                <a:solidFill>
                  <a:srgbClr val="282825"/>
                </a:solidFill>
                <a:latin typeface="Aptos"/>
              </a:rPr>
              <a:t>Promo use by payment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3904" y="3739896"/>
            <a:ext cx="7306056" cy="6949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69" b="0" dirty="0">
                <a:solidFill>
                  <a:srgbClr val="5B5B56"/>
                </a:solidFill>
                <a:latin typeface="Aptos"/>
              </a:rPr>
              <a:t>Promo-code share varies by payment method; online-payment incentives are worth testing.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0" y="4572000"/>
            <a:ext cx="41148" cy="1005840"/>
          </a:xfrm>
          <a:prstGeom prst="rect">
            <a:avLst/>
          </a:prstGeom>
          <a:solidFill>
            <a:srgbClr val="B8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03904" y="4572000"/>
            <a:ext cx="7306056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lnSpcReduction="10000"/>
          </a:bodyPr>
          <a:lstStyle/>
          <a:p>
            <a:pPr algn="l"/>
            <a:r>
              <a:rPr sz="1200" b="1">
                <a:solidFill>
                  <a:srgbClr val="282825"/>
                </a:solidFill>
                <a:latin typeface="Aptos"/>
              </a:rPr>
              <a:t>Ratings are stable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882896"/>
            <a:ext cx="7306056" cy="6949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69" b="0">
                <a:solidFill>
                  <a:srgbClr val="5B5B56"/>
                </a:solidFill>
                <a:latin typeface="Aptos"/>
              </a:rPr>
              <a:t>Promo usage has a negligible effect on review ratings (difference = 0.02).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9672"/>
            <a:ext cx="45720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92500"/>
          </a:bodyPr>
          <a:lstStyle/>
          <a:p>
            <a:pPr algn="l"/>
            <a:r>
              <a:rPr sz="700" b="1">
                <a:solidFill>
                  <a:srgbClr val="5B5B56"/>
                </a:solidFill>
                <a:latin typeface="Aptos"/>
              </a:rPr>
              <a:t>CUSTOMER SHOPPING BEHAVIOUR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800" b="1" dirty="0">
                <a:solidFill>
                  <a:srgbClr val="5B5B56"/>
                </a:solidFill>
                <a:latin typeface="Aptos"/>
              </a:rPr>
              <a:t>0</a:t>
            </a:r>
            <a:r>
              <a:rPr lang="en-IN" sz="800" b="1" dirty="0">
                <a:solidFill>
                  <a:srgbClr val="5B5B56"/>
                </a:solidFill>
                <a:latin typeface="Aptos"/>
              </a:rPr>
              <a:t>7</a:t>
            </a:r>
            <a:endParaRPr sz="800" b="1" dirty="0">
              <a:solidFill>
                <a:srgbClr val="5B5B56"/>
              </a:solidFill>
              <a:latin typeface="Aptos"/>
            </a:endParaRPr>
          </a:p>
        </p:txBody>
      </p:sp>
      <p:pic>
        <p:nvPicPr>
          <p:cNvPr id="26" name="Image 0" descr="preencoded.png">
            <a:extLst>
              <a:ext uri="{FF2B5EF4-FFF2-40B4-BE49-F238E27FC236}">
                <a16:creationId xmlns:a16="http://schemas.microsoft.com/office/drawing/2014/main" id="{C5553419-5792-CF2F-8E99-50D5AD21C8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365" y="1909053"/>
            <a:ext cx="2491190" cy="24912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00" b="1">
                <a:solidFill>
                  <a:srgbClr val="B89753"/>
                </a:solidFill>
                <a:latin typeface="Aptos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700" b="1">
                <a:solidFill>
                  <a:srgbClr val="282825"/>
                </a:solidFill>
                <a:latin typeface="Aptos"/>
              </a:rPr>
              <a:t>Customer Loyalty &amp; Pareto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914400" cy="41148"/>
          </a:xfrm>
          <a:prstGeom prst="rect">
            <a:avLst/>
          </a:prstGeom>
          <a:solidFill>
            <a:srgbClr val="B8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15468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4114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100" b="1">
                <a:solidFill>
                  <a:srgbClr val="B89753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87168"/>
            <a:ext cx="26060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600" b="1">
                <a:solidFill>
                  <a:srgbClr val="282825"/>
                </a:solidFill>
                <a:latin typeface="Aptos"/>
              </a:rPr>
              <a:t>Identify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71800"/>
            <a:ext cx="256032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50" b="0">
                <a:solidFill>
                  <a:srgbClr val="5B5B56"/>
                </a:solidFill>
                <a:latin typeface="Aptos"/>
              </a:rPr>
              <a:t>Age-gender groups driving 70% of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67912" y="2514600"/>
            <a:ext cx="4114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92500" lnSpcReduction="20000"/>
          </a:bodyPr>
          <a:lstStyle/>
          <a:p>
            <a:pPr algn="ctr"/>
            <a:r>
              <a:rPr sz="2000" b="1">
                <a:solidFill>
                  <a:srgbClr val="B89753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15468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2057400"/>
            <a:ext cx="4114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100" b="1">
                <a:solidFill>
                  <a:srgbClr val="B89753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487168"/>
            <a:ext cx="26060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lang="en-IN" sz="1600" b="1" dirty="0">
                <a:solidFill>
                  <a:srgbClr val="282825"/>
                </a:solidFill>
                <a:latin typeface="Aptos"/>
              </a:rPr>
              <a:t>Compare</a:t>
            </a:r>
            <a:endParaRPr sz="1600" b="1" dirty="0">
              <a:solidFill>
                <a:srgbClr val="282825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17720" y="2971800"/>
            <a:ext cx="256032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r>
              <a:rPr lang="en-US" sz="1050" dirty="0">
                <a:solidFill>
                  <a:srgbClr val="5B5B56"/>
                </a:solidFill>
                <a:latin typeface="Aptos"/>
              </a:rPr>
              <a:t>Assess repeat purchases across age groups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71231" y="2514600"/>
            <a:ext cx="4114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92500" lnSpcReduction="20000"/>
          </a:bodyPr>
          <a:lstStyle/>
          <a:p>
            <a:pPr algn="ctr"/>
            <a:r>
              <a:rPr sz="2000" b="1">
                <a:solidFill>
                  <a:srgbClr val="B89753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828800"/>
            <a:ext cx="315468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2057400"/>
            <a:ext cx="4114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100" b="1">
                <a:solidFill>
                  <a:srgbClr val="B89753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487168"/>
            <a:ext cx="26060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lang="en-IN" sz="1600" b="1" dirty="0">
                <a:solidFill>
                  <a:srgbClr val="282825"/>
                </a:solidFill>
                <a:latin typeface="Aptos"/>
              </a:rPr>
              <a:t>Prioritise</a:t>
            </a:r>
            <a:endParaRPr sz="1600" b="1" dirty="0">
              <a:solidFill>
                <a:srgbClr val="282825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21040" y="2971800"/>
            <a:ext cx="256032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r>
              <a:rPr lang="en-IN" sz="1050" dirty="0">
                <a:solidFill>
                  <a:srgbClr val="5B5B56"/>
                </a:solidFill>
                <a:latin typeface="Aptos"/>
              </a:rPr>
              <a:t>Focus retention actions on Pareto-ranked groups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434840"/>
            <a:ext cx="10698480" cy="960120"/>
          </a:xfrm>
          <a:prstGeom prst="roundRect">
            <a:avLst/>
          </a:prstGeom>
          <a:solidFill>
            <a:srgbClr val="F0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645152"/>
            <a:ext cx="18288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00" b="1">
                <a:solidFill>
                  <a:srgbClr val="B89753"/>
                </a:solidFill>
                <a:latin typeface="Aptos"/>
              </a:rPr>
              <a:t>KEY INSIGHT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4572000"/>
            <a:ext cx="88239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150" b="1">
                <a:solidFill>
                  <a:srgbClr val="282825"/>
                </a:solidFill>
                <a:latin typeface="Aptos"/>
              </a:rPr>
              <a:t>Top 70% of revenue is concentrated in a limited set of age-gender groups; some age groups also show above-average repeat purchases.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715000"/>
            <a:ext cx="4572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50" b="1">
                <a:solidFill>
                  <a:srgbClr val="5B5B56"/>
                </a:solidFill>
                <a:latin typeface="Aptos"/>
              </a:rPr>
              <a:t>Total repeat purchases reported in Power BI: 98.87K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9672"/>
            <a:ext cx="45720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92500"/>
          </a:bodyPr>
          <a:lstStyle/>
          <a:p>
            <a:pPr algn="l"/>
            <a:r>
              <a:rPr sz="700" b="1">
                <a:solidFill>
                  <a:srgbClr val="5B5B56"/>
                </a:solidFill>
                <a:latin typeface="Aptos"/>
              </a:rPr>
              <a:t>CUSTOMER SHOPPING BEHAVIOUR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r"/>
            <a:r>
              <a:rPr sz="800" b="1" dirty="0">
                <a:solidFill>
                  <a:srgbClr val="5B5B56"/>
                </a:solidFill>
                <a:latin typeface="Aptos"/>
              </a:rPr>
              <a:t>0</a:t>
            </a:r>
            <a:r>
              <a:rPr lang="en-IN" sz="800" b="1" dirty="0">
                <a:solidFill>
                  <a:srgbClr val="5B5B56"/>
                </a:solidFill>
                <a:latin typeface="Aptos"/>
              </a:rPr>
              <a:t>8</a:t>
            </a:r>
            <a:endParaRPr sz="800" b="1" dirty="0">
              <a:solidFill>
                <a:srgbClr val="5B5B56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00" b="1">
                <a:solidFill>
                  <a:srgbClr val="B89753"/>
                </a:solidFill>
                <a:latin typeface="Aptos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2700" b="1">
                <a:solidFill>
                  <a:srgbClr val="282825"/>
                </a:solidFill>
                <a:latin typeface="Aptos"/>
              </a:rPr>
              <a:t>Business 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43584"/>
            <a:ext cx="914400" cy="41148"/>
          </a:xfrm>
          <a:prstGeom prst="rect">
            <a:avLst/>
          </a:prstGeom>
          <a:solidFill>
            <a:srgbClr val="B89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5166360" cy="12618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764792"/>
            <a:ext cx="3200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00" b="1">
                <a:solidFill>
                  <a:srgbClr val="B89753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746504"/>
            <a:ext cx="42519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150" b="1">
                <a:solidFill>
                  <a:srgbClr val="282825"/>
                </a:solidFill>
                <a:latin typeface="Aptos"/>
              </a:rPr>
              <a:t>Target female customers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103120"/>
            <a:ext cx="425196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lang="en-US" sz="930" b="0" dirty="0">
                <a:solidFill>
                  <a:srgbClr val="5B5B56"/>
                </a:solidFill>
                <a:latin typeface="Aptos"/>
              </a:rPr>
              <a:t>Target female customers—launch a dedicated discount campaign and subscription drive (currently 0% female usage in both)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00200"/>
            <a:ext cx="5166360" cy="12618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764792"/>
            <a:ext cx="3200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00" b="1">
                <a:solidFill>
                  <a:srgbClr val="B89753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1746504"/>
            <a:ext cx="42519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150" b="1" dirty="0" err="1">
                <a:solidFill>
                  <a:srgbClr val="282825"/>
                </a:solidFill>
                <a:latin typeface="Aptos"/>
              </a:rPr>
              <a:t>Prioriti</a:t>
            </a:r>
            <a:r>
              <a:rPr lang="en-IN" sz="1150" b="1" dirty="0">
                <a:solidFill>
                  <a:srgbClr val="282825"/>
                </a:solidFill>
                <a:latin typeface="Aptos"/>
              </a:rPr>
              <a:t>s</a:t>
            </a:r>
            <a:r>
              <a:rPr sz="1150" b="1" dirty="0">
                <a:solidFill>
                  <a:srgbClr val="282825"/>
                </a:solidFill>
                <a:latin typeface="Aptos"/>
              </a:rPr>
              <a:t>e Clothing &amp; Accessories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2103120"/>
            <a:ext cx="425196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30" b="0" dirty="0">
                <a:solidFill>
                  <a:srgbClr val="5B5B56"/>
                </a:solidFill>
                <a:latin typeface="Aptos"/>
              </a:rPr>
              <a:t>Protect availability and investment in categories contributing ≈76% of product revenue.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08960"/>
            <a:ext cx="5166360" cy="12618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59" y="3273552"/>
            <a:ext cx="3200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00" b="1">
                <a:solidFill>
                  <a:srgbClr val="B89753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255264"/>
            <a:ext cx="42519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150" b="1" dirty="0" err="1">
                <a:solidFill>
                  <a:srgbClr val="282825"/>
                </a:solidFill>
                <a:latin typeface="Aptos"/>
              </a:rPr>
              <a:t>Optimi</a:t>
            </a:r>
            <a:r>
              <a:rPr lang="en-IN" sz="1150" b="1" dirty="0">
                <a:solidFill>
                  <a:srgbClr val="282825"/>
                </a:solidFill>
                <a:latin typeface="Aptos"/>
              </a:rPr>
              <a:t>s</a:t>
            </a:r>
            <a:r>
              <a:rPr sz="1150" b="1" dirty="0">
                <a:solidFill>
                  <a:srgbClr val="282825"/>
                </a:solidFill>
                <a:latin typeface="Aptos"/>
              </a:rPr>
              <a:t>e shipping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611880"/>
            <a:ext cx="425196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30" b="0" dirty="0">
                <a:solidFill>
                  <a:srgbClr val="5B5B56"/>
                </a:solidFill>
                <a:latin typeface="Aptos"/>
              </a:rPr>
              <a:t>Test free-shipping offers for Outerwear; ~20% of Outerwear revenue comes from free-shipping orders.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108960"/>
            <a:ext cx="5166360" cy="12618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80" y="3273552"/>
            <a:ext cx="3200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00" b="1">
                <a:solidFill>
                  <a:srgbClr val="B89753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3255264"/>
            <a:ext cx="42519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150" b="1">
                <a:solidFill>
                  <a:srgbClr val="282825"/>
                </a:solidFill>
                <a:latin typeface="Aptos"/>
              </a:rPr>
              <a:t>Review Jeans &amp; logistics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3611880"/>
            <a:ext cx="425196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30" b="0">
                <a:solidFill>
                  <a:srgbClr val="5B5B56"/>
                </a:solidFill>
                <a:latin typeface="Aptos"/>
              </a:rPr>
              <a:t>Investigate product, pricing and shipping factors behind lower Jeans sales.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17720"/>
            <a:ext cx="5166360" cy="12618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59" y="4782312"/>
            <a:ext cx="3200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00" b="1">
                <a:solidFill>
                  <a:srgbClr val="B89753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764024"/>
            <a:ext cx="42519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150" b="1">
                <a:solidFill>
                  <a:srgbClr val="282825"/>
                </a:solidFill>
                <a:latin typeface="Aptos"/>
              </a:rPr>
              <a:t>Encourage online payments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120640"/>
            <a:ext cx="425196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30" b="0">
                <a:solidFill>
                  <a:srgbClr val="5B5B56"/>
                </a:solidFill>
                <a:latin typeface="Aptos"/>
              </a:rPr>
              <a:t>Test incentives for online payments to reduce COD reliance and improve cash flow.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4617720"/>
            <a:ext cx="5166360" cy="12618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55080" y="4782312"/>
            <a:ext cx="3200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000" b="1">
                <a:solidFill>
                  <a:srgbClr val="B89753"/>
                </a:solidFill>
                <a:latin typeface="Aptos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4764024"/>
            <a:ext cx="42519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1150" b="1">
                <a:solidFill>
                  <a:srgbClr val="282825"/>
                </a:solidFill>
                <a:latin typeface="Aptos"/>
              </a:rPr>
              <a:t>Rework subscription value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5120640"/>
            <a:ext cx="425196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 algn="l"/>
            <a:r>
              <a:rPr sz="930" b="0">
                <a:solidFill>
                  <a:srgbClr val="5B5B56"/>
                </a:solidFill>
                <a:latin typeface="Aptos"/>
              </a:rPr>
              <a:t>Subscription status has minimal impact on purchase frequency (difference = 0.16).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6153912"/>
            <a:ext cx="10698480" cy="347472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" y="6208776"/>
            <a:ext cx="102412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lnSpcReduction="10000"/>
          </a:bodyPr>
          <a:lstStyle/>
          <a:p>
            <a:pPr algn="ctr"/>
            <a:r>
              <a:rPr sz="850" b="1">
                <a:solidFill>
                  <a:srgbClr val="5B5B56"/>
                </a:solidFill>
                <a:latin typeface="Aptos"/>
              </a:rPr>
              <a:t>PRIORITY: 1) Female growth  2) Category concentration  3) Retention  4) Payment &amp; shipping optimisation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725</TotalTime>
  <Words>742</Words>
  <Application>Microsoft Office PowerPoint</Application>
  <PresentationFormat>Widescreen</PresentationFormat>
  <Paragraphs>158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lalit yadav</cp:lastModifiedBy>
  <cp:revision>4</cp:revision>
  <dcterms:created xsi:type="dcterms:W3CDTF">2013-01-27T09:14:16Z</dcterms:created>
  <dcterms:modified xsi:type="dcterms:W3CDTF">2026-09-06T06:50:49Z</dcterms:modified>
  <cp:category/>
</cp:coreProperties>
</file>